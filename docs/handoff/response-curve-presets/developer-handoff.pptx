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188720"/>
            <a:ext cx="9875520" cy="502920"/>
          </a:xfrm>
        </p:spPr>
        <p:txBody>
          <a:bodyPr/>
          <a:lstStyle/>
          <a:p>
            <a:r>
              <a:rPr sz="2800" b="1">
                <a:solidFill>
                  <a:srgbClr val="020434"/>
                </a:solidFill>
              </a:rPr>
              <a:t>Field Sizing · Response Curve Presets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088136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Clickable HTML prototype plus complete developer handoff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423160"/>
            <a:ext cx="2011680" cy="109728"/>
          </a:xfrm>
          <a:prstGeom prst="roundRect">
            <a:avLst/>
          </a:prstGeom>
          <a:solidFill>
            <a:srgbClr val="E60F65"/>
          </a:solidFill>
          <a:ln>
            <a:solidFill>
              <a:srgbClr val="E60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Information Architecture &amp; Archetypes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Generated pages and mapping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Archetype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Must-Have IDs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Uptake by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R001, R002, R003, R004, R005, R006, R007, R008, R009, R010, R011, R012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Custom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R013, R014, R015, R016, R017, R018, R019, R020, R021, R022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R023, R024, R025, R026, R027, R028, R029, R030, R031, R032, R033, R034, R035, R036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Default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R037, R038, R039, R040, R041, R042, R043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R044, R045, R046, R047, R048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R049, R050, R051, R052, R053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(wizard)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Requirements: R001, R002, R003, R004, R005, R006, R007, R008, R009, R010, R011, R012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FIELD-LEVEL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760720" cy="384048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Browser screenshots unavailable in this environment; native mockups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75104"/>
            <a:ext cx="543153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Step 2 · Uptake by archetype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5936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5664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5664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0351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080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13832"/>
            <a:ext cx="1097280" cy="310896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5513832"/>
            <a:ext cx="10972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Cancel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37960" y="1417320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71"/>
                <a:gridCol w="1653235"/>
                <a:gridCol w="1343253"/>
              </a:tblGrid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Curve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HCPs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Uptake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37960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6656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6384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6384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5352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5079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Reqs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5079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81728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0434"/>
                </a:solidFill>
              </a:rPr>
              <a:t>Production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74336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Application stepper or KendoReact TabStrip for staged entry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Form controls per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13248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Dialog for final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Fields (1 of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field captured from handoff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curve_archetype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Curve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-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not started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- 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Synthetic generic records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source PII copied into prototype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- Permissions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- Production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Components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Application stepper or KendoReact TabStrip for staged entry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Form controls per step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Dialog for final confirmation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Uptake by archetype -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Open Questions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explicit open questions supplied.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(wizard)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Requirements: R013, R014, R015, R016, R017, R018, R019, R020, R021, R022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FIELD-LEVEL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760720" cy="384048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Browser screenshots unavailable in this environment; native mockups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75104"/>
            <a:ext cx="543153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Step 2 · Custom curve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5936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5664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5664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0351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080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13832"/>
            <a:ext cx="1097280" cy="310896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5513832"/>
            <a:ext cx="10972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Cancel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37960" y="1417320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71"/>
                <a:gridCol w="1653235"/>
                <a:gridCol w="1343253"/>
              </a:tblGrid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Source note for custom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37960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6656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6384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6384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5352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5079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Reqs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5079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81728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0434"/>
                </a:solidFill>
              </a:rPr>
              <a:t>Production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74336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Application stepper or KendoReact TabStrip for staged entry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Form controls per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13248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Dialog for final confirmation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Fields (1 of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field captured from handoff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source_note_for_custom_curves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 note for custom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-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not started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- 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Synthetic generic records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source PII copied into prototype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- Permissions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- Production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Components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Application stepper or KendoReact TabStrip for staged entry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Form controls per step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Dialog for final confirmation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Step 2 · Custom curve -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Open Questions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explicit open questions supplied.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(admin-config-panel)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Requirements: R023, R024, R025, R026, R027, R028, R029, R030, R031, R032, R033, R034, R035, R036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FIELD-LEVEL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760720" cy="384048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Browser screenshots unavailable in this environment; native mockups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75104"/>
            <a:ext cx="543153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Admin configurator · Presets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5936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5664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5664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0351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080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13832"/>
            <a:ext cx="1097280" cy="310896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5513832"/>
            <a:ext cx="10972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Cancel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37960" y="1417320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71"/>
                <a:gridCol w="1653235"/>
                <a:gridCol w="1343253"/>
              </a:tblGrid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37960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6656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6384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6384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5352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5079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Reqs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5079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81728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0434"/>
                </a:solidFill>
              </a:rPr>
              <a:t>Production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74336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Grid for rule 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Form controls for configuration edits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13248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Switch/Checkbox for binary settings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Fields (1 of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field captured from handoff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show_in_the_uptake_picker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Show in the uptake 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half_of_peak_calls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 of peak (calls)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-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list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create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edit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disabled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- 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Synthetic generic records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source PII copied into prototype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- Permissions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- Production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Components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Grid for rule lists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Form controls for configuration edits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Switch/Checkbox for binary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Presets -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Open Questions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explicit open questions supplied.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(admin-config-panel)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Requirements: R037, R038, R039, R040, R041, R042, R043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FIELD-LEVEL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760720" cy="384048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Browser screenshots unavailable in this environment; native mockups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75104"/>
            <a:ext cx="543153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Admin configurator · Default assignment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5936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5664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5664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0351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080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13832"/>
            <a:ext cx="1097280" cy="310896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5513832"/>
            <a:ext cx="10972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Cancel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37960" y="1417320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71"/>
                <a:gridCol w="1653235"/>
                <a:gridCol w="1343253"/>
              </a:tblGrid>
              <a:tr h="6705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Archetype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Uptake preset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37960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6656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6384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6384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5352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5079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Reqs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5079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81728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0434"/>
                </a:solidFill>
              </a:rPr>
              <a:t>Production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74336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Grid for rule 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Form controls for configuration edits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13248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Switch/Checkbox for binary settings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Fields (1 of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field captured from handoff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archetype_name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Archetype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uptake_preset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 preset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-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list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create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edit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disabled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- 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Synthetic generic records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source PII copied into prototype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- Permissions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- Production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Components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Grid for rule lists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Form controls for configuration edits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Switch/Checkbox for binary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Default assignment -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Open Questions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explicit open questions supplied.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(admin-config-panel)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Requirements: R044, R045, R046, R047, R048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FIELD-LEVEL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760720" cy="384048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Browser screenshots unavailable in this environment; native mockups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75104"/>
            <a:ext cx="543153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Admin configurator · Curve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5936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5664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5664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0351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080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13832"/>
            <a:ext cx="1097280" cy="310896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5513832"/>
            <a:ext cx="10972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Cancel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37960" y="1417320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71"/>
                <a:gridCol w="1653235"/>
                <a:gridCol w="1343253"/>
              </a:tblGrid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Half of peak (calls)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37960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6656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6384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6384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5352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5079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Reqs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5079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81728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0434"/>
                </a:solidFill>
              </a:rPr>
              <a:t>Production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74336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Grid for rule 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Form controls for configuration edits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13248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Switch/Checkbox for binary settings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Fields (1 of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field captured from handoff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half_of_peak_calls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 of peak (calls)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-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list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create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edit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disabled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- 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Synthetic generic records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source PII copied into prototype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- Permissions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- Production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Components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Grid for rule lists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Form controls for configuration edits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Switch/Checkbox for binary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Curve library -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Open Questions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explicit open questions supplied.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(admin-config-panel)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Requirements: R049, R050, R051, R052, R053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FIELD-LEVEL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760720" cy="384048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Browser screenshots unavailable in this environment; native mockups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5760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975104"/>
            <a:ext cx="5431536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Admin configurator ·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5936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5664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5664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0351" y="2560320"/>
            <a:ext cx="1694688" cy="68580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0080" y="2670048"/>
            <a:ext cx="1475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2944368"/>
            <a:ext cx="1475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87%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303520" cy="310896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035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Synthetic row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13832"/>
            <a:ext cx="1097280" cy="310896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5513832"/>
            <a:ext cx="10972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Cancel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37960" y="1417320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71"/>
                <a:gridCol w="1653235"/>
                <a:gridCol w="1343253"/>
              </a:tblGrid>
              <a:tr h="6705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Allow value-only data for the response curve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Allow custom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37960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6656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6384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6384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5352" y="3611880"/>
            <a:ext cx="1648968" cy="868680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5079" y="3721608"/>
            <a:ext cx="14295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Reqs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5079" y="3995928"/>
            <a:ext cx="1429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0434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681728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20434"/>
                </a:solidFill>
              </a:rPr>
              <a:t>Production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74336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Grid for rule 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Form controls for configuration edits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13248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B7280"/>
                </a:solidFill>
              </a:rPr>
              <a:t>- KendoReact Switch/Checkbox for binary settings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Fields (1 of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field captured from handoff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allow_value_only_data_for_the_response_curve_method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 value-only data for the response curve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allow_custom_curves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 custom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-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list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create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edit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disabled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- 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Synthetic generic records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source PII copied into prototype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- Permissions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Permission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- Production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Components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Grid for rule lists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Form controls for configuration edits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KendoReact Switch/Checkbox for binary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Admin configurator · Flags -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Continuation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PAGE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Open Questions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 explicit open questions supplied.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Data Dictionary (1 of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handoff field exactly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Field 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Required?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half_of_peak_calls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 of peak (calls)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Default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archetype_name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Archetype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Default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uptake_preset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 preset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allow_custom_curves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 custom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allow_value_only_data_for_the_response_curve_method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 value-only data for the response curve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Data Dictionary (2 of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handoff field exactly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Field 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Required?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half_of_peak_calls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Half of peak (calls)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show_in_the_uptake_picker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Show in the uptake 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Custom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Peak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Data Dictionary (3 of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handoff field exactly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Field name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Required?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Custom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Saturation (ρ)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Custom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Shape (γ)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Custom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source_note_for_custom_curves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Source note for custom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Uptake by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curve_archetype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Curve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Uptake by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HCPs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Uptake by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Uptake by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Permissions Matrix - Roles 1-3 of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page and role combination is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PERMISSIONS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Administrator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Sizing Analyst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Engagement Lead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Uptake by 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Step 2 · Custom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Default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Curve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Admin configurator ·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Must-Have Coverage Map 1/5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Must-Have links to prototype and deck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TRACEABILITY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Prototype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Must-Have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Must-Have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Must-Have Coverage Map 2/5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Must-Have links to prototype and deck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TRACEABILITY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Prototype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step-2-uptake-by-archetype-wizard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3, 4, 5, 6, 7, 8, 9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Must-Have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step-2-custom-curve-wizard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10, 11, 12, 13, 14, 15, 16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Must-Have Coverage Map 3/5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Must-Have links to prototype and deck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TRACEABILITY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Prototype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Must-Have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Must-Have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Must-Have Coverage Map 4/5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Must-Have links to prototype and deck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TRACEABILITY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Prototype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admin-configurator-presets-admin-config-panel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17, 18, 19, 20, 21, 22, 23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admin-configurator-default-assignment-admin-config-panel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24, 25, 26, 27, 28, 29, 30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admin-configurator-curve-library-admin-config-panel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31, 32, 33, 34, 35, 36, 37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Must-Have Coverage Map 5/5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Every Must-Have links to prototype and deck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TRACEABILITY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Prototype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Deck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admin-configurator-curve-library-admin-config-panel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31, 32, 33, 34, 35, 36, 37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admin-configurator-curve-library-admin-config-panel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31, 32, 33, 34, 35, 36, 37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admin-configurator-curve-library-admin-config-panel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31, 32, 33, 34, 35, 36, 37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admin-configurator-curve-library-admin-config-panel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31, 32, 33, 34, 35, 36, 37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admin-configurator-flags-admin-config-panel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38, 39, 40, 41, 42, 43, 44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admin-configurator-flags-admin-config-panel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38, 39, 40, 41, 42, 43, 44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admin-configurator-flags-admin-config-panel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38, 39, 40, 41, 42, 43, 44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admin-configurator-flags-admin-config-panel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38, 39, 40, 41, 42, 43, 44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t>R053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admin-configurator-flags-admin-config-panel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38, 39, 40, 41, 42, 43, 44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Assumptions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Cross-cutting notes for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HANDOFF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728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Assumption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Screens in this deck are generated references; the review mock-up is the UI source of truth.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Requirement IDs FR-44, FR-45, FR-46, FR-47 and FR-48 are provisional and tagged "(proposed)" until they are checked against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The four uptake presets are Beghou reference presets; analysts see curve values only under "Advanced: curve details".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 HCP, segment and archetype data in the review mock-up is synthetic.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The origin of the configuration is derived from its values and is not audited.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Market-context recommendation of curves (rules or AI) is backlog and not part of this build.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 client self-serve persona is deferred to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The generated permission tables (per-page Permissions slides, Permissions Matrix, Global Permissions) show every role as view-only on every page. Use the Permissions section: only the Administrator opens the configurator; the Sizing Analyst and Engagement Lead edit uptake and Custom curves.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Cross-cutting notes for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HANDOFF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728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FR-44 (proposed): confirm the ID and wording against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FR-45 (proposed): confirm the ID and wording against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FR-46 (proposed): confirm the ID and wording against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FR-47 (proposed): confirm the ID and wording against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FR-48 (proposed): confirm the ID and wording against the PRD.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Confirm that the four Beghou reference presets are meant as generic presets.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Confirm whether the Administrator may approve scenarios (TBD in the PRD).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Confirm the deck numbering: R001 = FR-44, R002 = FR-47, R013 = FR-45, R023 = FR-46, R024 = FR-48 (FR-48 sits under Presets because there is no Export page).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Cross-cutting notes for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HANDOFF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Baseline sits between Slow and Moderate in steepness; presenting it as the middle option would mislead users.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Allowing value-only data applies one curve to every HCP, so per-archetype differences are lost for that project.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The generated permission tables (per-page Permissions slides, Permissions Matrix, Global Permissions) show every role as view-only on every page. Use the Permissions section: only the Administrator opens the configurator; the Sizing Analyst and Engagement Lead edit uptake and Custom curves.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Field types, Required flags, page states and mock-up rows are generator defaults; read-only fields and behaviour are in the requirements document. The generated prototype is not shipped; the review mock-up is the prototype of record.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Security Assumptions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Cross-cutting notes for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HANDOFF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/>
              </a:tblGrid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Assumption</a:t>
                      </a:r>
                    </a:p>
                  </a:txBody>
                  <a:tcPr>
                    <a:solidFill>
                      <a:srgbClr val="ED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Backend authorization is the source of truth; frontend route guards are advisory only.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Tenant isolation must be enforced server-side for every API and data access path.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Audit logging should capture sensitive workflow decisions and administrative changes.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Uploads and pasted documents must be sanitized before storage, parsing, or preview.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20434"/>
                          </a:solidFill>
                        </a:rPr>
                        <a:t>Production deployments should enforce CSP and security headers; generated HTML includes only local artifacts, and screenshot capture blocks outbound network requests.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713232"/>
            <a:ext cx="10789920" cy="320040"/>
          </a:xfrm>
        </p:spPr>
        <p:txBody>
          <a:bodyPr/>
          <a:lstStyle/>
          <a:p>
            <a:r>
              <a:rPr sz="2200" b="1">
                <a:solidFill>
                  <a:srgbClr val="020434"/>
                </a:solidFill>
              </a:rP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38912"/>
          </a:xfrm>
          <a:prstGeom prst="roundRect">
            <a:avLst/>
          </a:prstGeom>
          <a:solidFill>
            <a:srgbClr val="020434"/>
          </a:solidFill>
          <a:ln>
            <a:solidFill>
              <a:srgbClr val="020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Field Sizing · Response Curve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Review, refine, then hand to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</a:rPr>
              <a:t>CLOSEOUT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Confirm prototype pages match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0698480" cy="347472"/>
          </a:xfrm>
          <a:prstGeom prst="roundRect">
            <a:avLst/>
          </a:prstGeom>
          <a:solidFill>
            <a:srgbClr val="EDF0FA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Review permissions and traceability.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6984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9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020434"/>
                </a:solidFill>
              </a:rPr>
              <a:t>Replace synthetic data before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